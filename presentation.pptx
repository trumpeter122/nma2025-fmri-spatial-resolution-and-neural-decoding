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0" d="111"/>
          <a:sy n="100" d="101"/>
        </p:scale>
        <p:origin x="115" y="107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120590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3580928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86097" name="Google Shape;176;ged3401ed36_1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609347" name="Google Shape;177;ged3401ed36_1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604552" name="Google Shape;256;ge1d838b627_4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21113" name="Google Shape;257;ge1d838b627_4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029285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254711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240371" name="Google Shape;246;ge1d838b627_4_19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690583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384221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234712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017709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655468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600821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855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28959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116679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207149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342014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953790" name="Google Shape;246;ge1d838b627_4_19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471797" name="Google Shape;247;ge1d838b627_4_1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175207" name="Google Shape;310;ge1d838b627_4_8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039283" name="Google Shape;311;ge1d838b627_4_8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8820303" name="Google Shape;9;p2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7309205" name="Google Shape;12;p2"/>
          <p:cNvSpPr/>
          <p:nvPr>
            <p:ph type="pic" idx="2"/>
          </p:nvPr>
        </p:nvSpPr>
        <p:spPr bwMode="auto"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6347802" name="Google Shape;13;p2"/>
          <p:cNvSpPr txBox="1"/>
          <p:nvPr>
            <p:ph type="ctrTitle"/>
          </p:nvPr>
        </p:nvSpPr>
        <p:spPr bwMode="auto"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81008382" name="Google Shape;14;p2"/>
          <p:cNvSpPr txBox="1"/>
          <p:nvPr>
            <p:ph type="subTitle" idx="1"/>
          </p:nvPr>
        </p:nvSpPr>
        <p:spPr bwMode="auto"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pic>
        <p:nvPicPr>
          <p:cNvPr id="657595784" name="Google Shape;15;p2" title="Sin título-2.png"/>
          <p:cNvPicPr/>
          <p:nvPr/>
        </p:nvPicPr>
        <p:blipFill>
          <a:blip r:embed="rId3">
            <a:alphaModFix/>
          </a:blip>
          <a:srcRect l="61982" t="0" r="0" b="0"/>
          <a:stretch/>
        </p:blipFill>
        <p:spPr bwMode="auto">
          <a:xfrm>
            <a:off x="5805375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6057325" name="Google Shape;17;p3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8" name="Google Shape;18;p3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74979189" name="Google Shape;20;p3" title="Sin título-5.png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3233000" y="3371475"/>
            <a:ext cx="5515599" cy="135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11799" name="Google Shape;21;p3" title="Sin título-4.png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555462" y="817950"/>
            <a:ext cx="5399452" cy="302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195629" name="Google Shape;22;p3"/>
          <p:cNvSpPr txBox="1"/>
          <p:nvPr>
            <p:ph type="title"/>
          </p:nvPr>
        </p:nvSpPr>
        <p:spPr bwMode="auto">
          <a:xfrm>
            <a:off x="1860500" y="1532500"/>
            <a:ext cx="3459000" cy="152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218823391" name="Google Shape;23;p3"/>
          <p:cNvSpPr txBox="1"/>
          <p:nvPr>
            <p:ph type="title" idx="2" hasCustomPrompt="1"/>
          </p:nvPr>
        </p:nvSpPr>
        <p:spPr bwMode="auto">
          <a:xfrm>
            <a:off x="779673" y="1910725"/>
            <a:ext cx="778200" cy="76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795992242" name="Google Shape;24;p3"/>
          <p:cNvSpPr txBox="1"/>
          <p:nvPr>
            <p:ph type="subTitle" idx="1"/>
          </p:nvPr>
        </p:nvSpPr>
        <p:spPr bwMode="auto">
          <a:xfrm>
            <a:off x="3465325" y="3918575"/>
            <a:ext cx="5174399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263853" name="Google Shape;25;p3"/>
          <p:cNvSpPr/>
          <p:nvPr>
            <p:ph type="pic" idx="3"/>
          </p:nvPr>
        </p:nvSpPr>
        <p:spPr bwMode="auto">
          <a:xfrm flipH="1">
            <a:off x="6386650" y="947025"/>
            <a:ext cx="2107500" cy="2067599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046025" name="Google Shape;47;p7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8726882" name="Google Shape;50;p7"/>
          <p:cNvSpPr txBox="1"/>
          <p:nvPr>
            <p:ph type="title"/>
          </p:nvPr>
        </p:nvSpPr>
        <p:spPr bwMode="auto"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3929284" name="Google Shape;51;p7"/>
          <p:cNvSpPr txBox="1"/>
          <p:nvPr>
            <p:ph type="body" idx="1"/>
          </p:nvPr>
        </p:nvSpPr>
        <p:spPr bwMode="auto"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792616" name="Google Shape;52;p7"/>
          <p:cNvSpPr/>
          <p:nvPr>
            <p:ph type="pic" idx="2"/>
          </p:nvPr>
        </p:nvSpPr>
        <p:spPr bwMode="auto"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5918361" name="Google Shape;54;p8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652409" name="Google Shape;57;p8"/>
          <p:cNvSpPr txBox="1"/>
          <p:nvPr>
            <p:ph type="title"/>
          </p:nvPr>
        </p:nvSpPr>
        <p:spPr bwMode="auto">
          <a:xfrm>
            <a:off x="1388099" y="1307099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5162054" name="Google Shape;59;p9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7347722" name="Google Shape;62;p9"/>
          <p:cNvSpPr txBox="1"/>
          <p:nvPr>
            <p:ph type="subTitle" idx="1"/>
          </p:nvPr>
        </p:nvSpPr>
        <p:spPr bwMode="auto"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65839" name="Google Shape;63;p9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6621857" name="Google Shape;64;p9"/>
          <p:cNvSpPr txBox="1"/>
          <p:nvPr>
            <p:ph type="subTitle" idx="2"/>
          </p:nvPr>
        </p:nvSpPr>
        <p:spPr bwMode="auto"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3913333" name="Google Shape;66;p10" title="Sin título-7.png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10799229" name="Google Shape;67;p10"/>
          <p:cNvSpPr/>
          <p:nvPr>
            <p:ph type="pic" idx="2"/>
          </p:nvPr>
        </p:nvSpPr>
        <p:spPr bwMode="auto"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858125435" name="Google Shape;68;p10"/>
          <p:cNvSpPr txBox="1"/>
          <p:nvPr>
            <p:ph type="title"/>
          </p:nvPr>
        </p:nvSpPr>
        <p:spPr bwMode="auto"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988333423" name="Google Shape;69;p10" title="Sin título-2.pn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21770317" name="Google Shape;71;p11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9025524" name="Google Shape;74;p11"/>
          <p:cNvSpPr txBox="1"/>
          <p:nvPr>
            <p:ph type="title" hasCustomPrompt="1"/>
          </p:nvPr>
        </p:nvSpPr>
        <p:spPr bwMode="auto">
          <a:xfrm>
            <a:off x="1284000" y="1952849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75311765" name="Google Shape;75;p11"/>
          <p:cNvSpPr txBox="1"/>
          <p:nvPr>
            <p:ph type="subTitle" idx="1"/>
          </p:nvPr>
        </p:nvSpPr>
        <p:spPr bwMode="auto"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1" preserve="0" showMasterPhAnim="0" showMasterSp="1" userDrawn="1">
  <p:cSld name="ONE_COLUMN_TEXT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920030" name="Google Shape;103;p15" title="Sin título-7.png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7699405" name="Google Shape;104;p15"/>
          <p:cNvSpPr txBox="1"/>
          <p:nvPr>
            <p:ph type="title"/>
          </p:nvPr>
        </p:nvSpPr>
        <p:spPr bwMode="auto"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2578224" name="Google Shape;105;p15"/>
          <p:cNvSpPr txBox="1"/>
          <p:nvPr>
            <p:ph type="body" idx="1"/>
          </p:nvPr>
        </p:nvSpPr>
        <p:spPr bwMode="auto"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0904181" name="Google Shape;106;p15"/>
          <p:cNvSpPr/>
          <p:nvPr>
            <p:ph type="pic" idx="2"/>
          </p:nvPr>
        </p:nvSpPr>
        <p:spPr bwMode="auto">
          <a:xfrm>
            <a:off x="522524" y="1195150"/>
            <a:ext cx="2947199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926607455" name="Google Shape;107;p15" title="Sin título-2.pn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2" preserve="0" showMasterPhAnim="0" showMasterSp="1" userDrawn="1">
  <p:cSld name="TITLE_ONLY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0211077" name="Google Shape;113;p17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851387" name="Google Shape;116;p17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showMasterSp="1" userDrawn="1">
  <p:cSld name="BLANK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2539506" name="Google Shape;160;p22"/>
          <p:cNvGrpSpPr/>
          <p:nvPr/>
        </p:nvGrpSpPr>
        <p:grpSpPr bwMode="auto"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/>
            <p:nvPr/>
          </p:nvPicPr>
          <p:blipFill>
            <a:blip r:embed="rId2">
              <a:alphaModFix/>
            </a:blip>
            <a:stretch/>
          </p:blipFill>
          <p:spPr bwMode="auto"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/>
            <p:nvPr/>
          </p:nvPicPr>
          <p:blipFill>
            <a:blip r:embed="rId3">
              <a:alphaModFix/>
            </a:blip>
            <a:stretch/>
          </p:blipFill>
          <p:spPr bwMode="auto"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showMasterSp="1" userDrawn="1">
  <p:cSld name="BLANK_1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810482" name="Google Shape;6;p1"/>
          <p:cNvSpPr txBox="1"/>
          <p:nvPr>
            <p:ph type="title"/>
          </p:nvPr>
        </p:nvSpPr>
        <p:spPr bwMode="auto"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69884991" name="Google Shape;7;p1"/>
          <p:cNvSpPr txBox="1"/>
          <p:nvPr>
            <p:ph type="body" idx="1"/>
          </p:nvPr>
        </p:nvSpPr>
        <p:spPr bwMode="auto"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trumpeter122/NMA2025-fMRI-Spatial-Resolution-and-Neural-Decoding.git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93549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5811926" y="1317074"/>
            <a:ext cx="2822073" cy="3015003"/>
          </a:xfrm>
          <a:prstGeom prst="rect">
            <a:avLst/>
          </a:prstGeom>
        </p:spPr>
      </p:pic>
      <p:sp>
        <p:nvSpPr>
          <p:cNvPr id="595856862" name="Google Shape;180;p28"/>
          <p:cNvSpPr txBox="1"/>
          <p:nvPr>
            <p:ph type="ctrTitle"/>
          </p:nvPr>
        </p:nvSpPr>
        <p:spPr bwMode="auto">
          <a:xfrm flipH="0" flipV="0">
            <a:off x="606799" y="849600"/>
            <a:ext cx="5060699" cy="2870614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>
              <a:defRPr/>
            </a:pPr>
            <a:r>
              <a:rPr>
                <a:latin typeface="Ubuntu"/>
                <a:ea typeface="Ubuntu"/>
                <a:cs typeface="Ubuntu"/>
              </a:rPr>
              <a:t>Spatial Resolution in fMRI Neural Decoding</a:t>
            </a:r>
            <a:endParaRPr>
              <a:latin typeface="Ubuntu"/>
              <a:cs typeface="Ubuntu"/>
            </a:endParaRPr>
          </a:p>
        </p:txBody>
      </p:sp>
      <p:sp>
        <p:nvSpPr>
          <p:cNvPr id="1064453637" name="Google Shape;181;p28"/>
          <p:cNvSpPr txBox="1"/>
          <p:nvPr>
            <p:ph type="subTitle" idx="1"/>
          </p:nvPr>
        </p:nvSpPr>
        <p:spPr bwMode="auto">
          <a:xfrm flipH="0" flipV="0">
            <a:off x="606799" y="3720214"/>
            <a:ext cx="4203425" cy="967178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Pod </a:t>
            </a: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Astarte</a:t>
            </a:r>
            <a:endParaRPr>
              <a:latin typeface="Ubuntu"/>
              <a:cs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Ubuntu"/>
                <a:ea typeface="Ubuntu"/>
                <a:cs typeface="Ubuntu"/>
              </a:rPr>
              <a:t>Jinghan Huang</a:t>
            </a:r>
            <a:endParaRPr>
              <a:latin typeface="Ubuntu"/>
              <a:cs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Jul 2025</a:t>
            </a:r>
            <a:endParaRPr>
              <a:latin typeface="Ubuntu"/>
              <a:cs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Ubuntu"/>
              <a:cs typeface="Ubuntu"/>
            </a:endParaRPr>
          </a:p>
        </p:txBody>
      </p:sp>
      <p:sp>
        <p:nvSpPr>
          <p:cNvPr id="828946763" name=""/>
          <p:cNvSpPr txBox="1"/>
          <p:nvPr/>
        </p:nvSpPr>
        <p:spPr bwMode="auto">
          <a:xfrm rot="0" flipH="0" flipV="0">
            <a:off x="6165428" y="4599214"/>
            <a:ext cx="2795223" cy="183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en-US" sz="600" b="0" i="0" u="none" strike="noStrike" cap="none" spc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https://upload.wikimedia.org/wikipedia/commons/4/4a/1206_FMRI.jpg</a:t>
            </a:r>
            <a:endParaRPr sz="600">
              <a:latin typeface="Ubuntu"/>
              <a:cs typeface="Ubuntu"/>
            </a:endParaRPr>
          </a:p>
        </p:txBody>
      </p:sp>
      <p:pic>
        <p:nvPicPr>
          <p:cNvPr id="79945748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0603" y="214384"/>
            <a:ext cx="422788" cy="286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069149" name=""/>
          <p:cNvSpPr/>
          <p:nvPr/>
        </p:nvSpPr>
        <p:spPr bwMode="auto">
          <a:xfrm rot="0" flipH="0" flipV="0">
            <a:off x="6386649" y="954976"/>
            <a:ext cx="2107499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grpSp>
        <p:nvGrpSpPr>
          <p:cNvPr id="844002863" name="Google Shape;263;p32"/>
          <p:cNvGrpSpPr/>
          <p:nvPr/>
        </p:nvGrpSpPr>
        <p:grpSpPr bwMode="auto">
          <a:xfrm flipH="0" flipV="0">
            <a:off x="6386649" y="947025"/>
            <a:ext cx="2107350" cy="265500"/>
            <a:chOff x="0" y="0"/>
            <a:chExt cx="2107350" cy="265500"/>
          </a:xfrm>
        </p:grpSpPr>
        <p:pic>
          <p:nvPicPr>
            <p:cNvPr id="264" name="Google Shape;264;p32" title="Sin título-2.png"/>
            <p:cNvPicPr/>
            <p:nvPr/>
          </p:nvPicPr>
          <p:blipFill>
            <a:blip r:embed="rId3">
              <a:alphaModFix/>
            </a:blip>
            <a:srcRect l="71706" t="0" r="0" b="0"/>
            <a:stretch/>
          </p:blipFill>
          <p:spPr bwMode="auto">
            <a:xfrm>
              <a:off x="0" y="0"/>
              <a:ext cx="210735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2" title="Sin título-2.png"/>
            <p:cNvPicPr/>
            <p:nvPr/>
          </p:nvPicPr>
          <p:blipFill>
            <a:blip r:embed="rId3">
              <a:alphaModFix/>
            </a:blip>
            <a:srcRect l="71706" t="0" r="0" b="0"/>
            <a:stretch/>
          </p:blipFill>
          <p:spPr bwMode="auto">
            <a:xfrm>
              <a:off x="0" y="0"/>
              <a:ext cx="2107350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9490157" name="Google Shape;259;p32" title="beautiful-sea-life-with-aquatic-animal (1).jpg"/>
          <p:cNvPicPr/>
          <p:nvPr>
            <p:ph type="pic" idx="3"/>
          </p:nvPr>
        </p:nvPicPr>
        <p:blipFill>
          <a:blip r:embed="rId4"/>
          <a:stretch/>
        </p:blipFill>
        <p:spPr bwMode="auto">
          <a:xfrm flipH="0" flipV="0">
            <a:off x="6386649" y="1185149"/>
            <a:ext cx="2107499" cy="2067598"/>
          </a:xfrm>
          <a:prstGeom prst="rect">
            <a:avLst/>
          </a:prstGeom>
          <a:ln w="6349" cap="flat" cmpd="sng">
            <a:solidFill>
              <a:schemeClr val="accent1">
                <a:lumMod val="50196"/>
              </a:scheme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6480715" name="Google Shape;260;p32"/>
          <p:cNvSpPr txBox="1"/>
          <p:nvPr>
            <p:ph type="subTitle" idx="1"/>
          </p:nvPr>
        </p:nvSpPr>
        <p:spPr bwMode="auto">
          <a:xfrm flipH="0" flipV="0">
            <a:off x="3465324" y="3918574"/>
            <a:ext cx="5174399" cy="354067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Ubuntu"/>
                <a:ea typeface="Ubuntu"/>
                <a:cs typeface="Ubuntu"/>
              </a:rPr>
              <a:t>The relationship is actually non-linear </a:t>
            </a: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(Gardumi et al., 2016)</a:t>
            </a:r>
            <a:endParaRPr>
              <a:latin typeface="Ubuntu"/>
              <a:cs typeface="Ubuntu"/>
            </a:endParaRPr>
          </a:p>
        </p:txBody>
      </p:sp>
      <p:sp>
        <p:nvSpPr>
          <p:cNvPr id="84942408" name="Google Shape;22;p3"/>
          <p:cNvSpPr txBox="1"/>
          <p:nvPr>
            <p:ph type="title"/>
          </p:nvPr>
        </p:nvSpPr>
        <p:spPr bwMode="auto">
          <a:xfrm flipH="0" flipV="0">
            <a:off x="822749" y="1532499"/>
            <a:ext cx="4524374" cy="1521000"/>
          </a:xfrm>
          <a:prstGeom prst="rect">
            <a:avLst/>
          </a:prstGeom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r>
              <a:rPr sz="2000">
                <a:latin typeface="Ubuntu"/>
                <a:ea typeface="Ubuntu"/>
                <a:cs typeface="Ubuntu"/>
              </a:rPr>
              <a:t>First Question:</a:t>
            </a:r>
            <a:br>
              <a:rPr sz="2000">
                <a:latin typeface="Ubuntu"/>
                <a:ea typeface="Ubuntu"/>
                <a:cs typeface="Ubuntu"/>
              </a:rPr>
            </a:br>
            <a:br>
              <a:rPr sz="2000">
                <a:latin typeface="Ubuntu"/>
                <a:ea typeface="Ubuntu"/>
                <a:cs typeface="Ubuntu"/>
              </a:rPr>
            </a:br>
            <a:r>
              <a:rPr sz="2000">
                <a:latin typeface="Ubuntu"/>
                <a:ea typeface="Ubuntu"/>
                <a:cs typeface="Ubuntu"/>
              </a:rPr>
              <a:t>What is the relationship between spatial resolution and neural decoding?</a:t>
            </a:r>
            <a:endParaRPr sz="2000">
              <a:latin typeface="Ubuntu"/>
              <a:cs typeface="Ubuntu"/>
            </a:endParaRPr>
          </a:p>
        </p:txBody>
      </p:sp>
      <p:pic>
        <p:nvPicPr>
          <p:cNvPr id="17490381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757671258" name=""/>
          <p:cNvSpPr txBox="1"/>
          <p:nvPr/>
        </p:nvSpPr>
        <p:spPr bwMode="auto">
          <a:xfrm rot="0" flipH="0" flipV="0">
            <a:off x="6386649" y="940949"/>
            <a:ext cx="1303261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Naive Assumption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287270054" name=""/>
          <p:cNvSpPr txBox="1"/>
          <p:nvPr/>
        </p:nvSpPr>
        <p:spPr bwMode="auto">
          <a:xfrm rot="0" flipH="0" flipV="0">
            <a:off x="3811392" y="4355553"/>
            <a:ext cx="48800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6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A. Gardumi, D. Ivanov, L. Hausfeld, G. Valente, E. Formisano, and K. Uludağ, “The effect of spatial resolution on decoding accuracy in fMRI multivariate pattern analysis,” NeuroImage, vol. 132, pp. 32–42, May 2016, doi: 10.1016/j.neuroimage.2016.02.033.</a:t>
            </a:r>
            <a:endParaRPr sz="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23375" name=""/>
          <p:cNvSpPr/>
          <p:nvPr/>
        </p:nvSpPr>
        <p:spPr bwMode="auto">
          <a:xfrm rot="0" flipH="0" flipV="0">
            <a:off x="338326" y="1087563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357673491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340602" y="1347594"/>
            <a:ext cx="4156152" cy="3117114"/>
          </a:xfrm>
          <a:prstGeom prst="rect">
            <a:avLst/>
          </a:prstGeom>
        </p:spPr>
      </p:pic>
      <p:sp>
        <p:nvSpPr>
          <p:cNvPr id="1323798908" name="Google Shape;251;p31"/>
          <p:cNvSpPr txBox="1"/>
          <p:nvPr>
            <p:ph type="body" idx="1"/>
          </p:nvPr>
        </p:nvSpPr>
        <p:spPr bwMode="auto">
          <a:xfrm flipH="0" flipV="0">
            <a:off x="4430342" y="1455964"/>
            <a:ext cx="4458183" cy="3127806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39699" indent="0">
              <a:buClr>
                <a:schemeClr val="dk1"/>
              </a:buClr>
              <a:buSzPts val="1400"/>
              <a:buFont typeface="Roboto Mono"/>
              <a:buNone/>
              <a:defRPr/>
            </a:pPr>
            <a:r>
              <a:rPr sz="2000">
                <a:latin typeface="Ubuntu"/>
                <a:ea typeface="Ubuntu"/>
                <a:cs typeface="Ubuntu"/>
              </a:rPr>
              <a:t>Further Questions:</a:t>
            </a:r>
            <a:endParaRPr sz="2000">
              <a:latin typeface="Ubuntu"/>
              <a:cs typeface="Ubuntu"/>
            </a:endParaRPr>
          </a:p>
          <a:p>
            <a:pPr marL="139699" indent="0">
              <a:buClr>
                <a:schemeClr val="dk1"/>
              </a:buClr>
              <a:buSzPts val="1400"/>
              <a:buFont typeface="Roboto Mono"/>
              <a:buNone/>
              <a:defRPr/>
            </a:pPr>
            <a:endParaRPr sz="2000">
              <a:latin typeface="Ubuntu"/>
              <a:cs typeface="Ubuntu"/>
            </a:endParaRPr>
          </a:p>
          <a:p>
            <a:pPr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sz="2000">
                <a:latin typeface="Ubuntu"/>
                <a:ea typeface="Ubuntu"/>
                <a:cs typeface="Ubuntu"/>
              </a:rPr>
              <a:t>What is the relationship between spatial resolution and </a:t>
            </a:r>
            <a:r>
              <a:rPr sz="2000" b="1">
                <a:latin typeface="Ubuntu"/>
                <a:ea typeface="Ubuntu"/>
                <a:cs typeface="Ubuntu"/>
              </a:rPr>
              <a:t>different types</a:t>
            </a:r>
            <a:r>
              <a:rPr sz="2000" b="0">
                <a:latin typeface="Ubuntu"/>
                <a:ea typeface="Ubuntu"/>
                <a:cs typeface="Ubuntu"/>
              </a:rPr>
              <a:t> of neural decoding tasks?</a:t>
            </a:r>
            <a:endParaRPr sz="2000" b="0">
              <a:latin typeface="Ubuntu"/>
              <a:ea typeface="Ubuntu"/>
              <a:cs typeface="Ubuntu"/>
            </a:endParaRPr>
          </a:p>
          <a:p>
            <a:pPr marL="139699" indent="0">
              <a:buClr>
                <a:schemeClr val="dk1"/>
              </a:buClr>
              <a:buSzPts val="1400"/>
              <a:buFont typeface="Arial"/>
              <a:buNone/>
              <a:defRPr/>
            </a:pPr>
            <a:endParaRPr sz="2000" b="0">
              <a:latin typeface="Ubuntu"/>
              <a:cs typeface="Ubuntu"/>
            </a:endParaRPr>
          </a:p>
          <a:p>
            <a:pPr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sz="2000" b="0">
                <a:latin typeface="Ubuntu"/>
                <a:ea typeface="Ubuntu"/>
                <a:cs typeface="Ubuntu"/>
              </a:rPr>
              <a:t>Can we model the relationship?</a:t>
            </a:r>
            <a:endParaRPr sz="2000" b="0">
              <a:latin typeface="Ubuntu"/>
              <a:cs typeface="Ubuntu"/>
            </a:endParaRPr>
          </a:p>
        </p:txBody>
      </p:sp>
      <p:grpSp>
        <p:nvGrpSpPr>
          <p:cNvPr id="674636503" name="Google Shape;252;p31"/>
          <p:cNvGrpSpPr/>
          <p:nvPr/>
        </p:nvGrpSpPr>
        <p:grpSpPr bwMode="auto">
          <a:xfrm>
            <a:off x="1531397" y="1087563"/>
            <a:ext cx="2971349" cy="265500"/>
            <a:chOff x="511224" y="947025"/>
            <a:chExt cx="2971349" cy="265500"/>
          </a:xfrm>
        </p:grpSpPr>
        <p:pic>
          <p:nvPicPr>
            <p:cNvPr id="1280343957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459640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775851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1415830096" name=""/>
          <p:cNvSpPr txBox="1"/>
          <p:nvPr/>
        </p:nvSpPr>
        <p:spPr bwMode="auto">
          <a:xfrm rot="0" flipH="0" flipV="0">
            <a:off x="340603" y="1087563"/>
            <a:ext cx="2151975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Potential Actual Relationship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124090" name=""/>
          <p:cNvSpPr/>
          <p:nvPr/>
        </p:nvSpPr>
        <p:spPr bwMode="auto">
          <a:xfrm rot="0" flipH="0" flipV="0">
            <a:off x="338327" y="1087564"/>
            <a:ext cx="4155194" cy="265175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2070752899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340603" y="1347594"/>
            <a:ext cx="4156153" cy="3117114"/>
          </a:xfrm>
          <a:prstGeom prst="rect">
            <a:avLst/>
          </a:prstGeom>
        </p:spPr>
      </p:pic>
      <p:sp>
        <p:nvSpPr>
          <p:cNvPr id="461026992" name="Google Shape;250;p31"/>
          <p:cNvSpPr txBox="1"/>
          <p:nvPr>
            <p:ph type="title"/>
          </p:nvPr>
        </p:nvSpPr>
        <p:spPr bwMode="auto">
          <a:xfrm flipH="0" flipV="0">
            <a:off x="4297424" y="1102557"/>
            <a:ext cx="4547700" cy="7281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Ubuntu"/>
                <a:ea typeface="Ubuntu"/>
                <a:cs typeface="Ubuntu"/>
              </a:rPr>
              <a:t>HCP</a:t>
            </a:r>
            <a:r>
              <a:rPr lang="en-US">
                <a:latin typeface="Ubuntu"/>
                <a:ea typeface="Ubuntu"/>
                <a:cs typeface="Ubuntu"/>
              </a:rPr>
              <a:t> 2021 + Behavior</a:t>
            </a:r>
            <a:endParaRPr>
              <a:latin typeface="Ubuntu"/>
              <a:cs typeface="Ubuntu"/>
            </a:endParaRPr>
          </a:p>
        </p:txBody>
      </p:sp>
      <p:sp>
        <p:nvSpPr>
          <p:cNvPr id="684617336" name="Google Shape;251;p31"/>
          <p:cNvSpPr txBox="1"/>
          <p:nvPr>
            <p:ph type="body" idx="1"/>
          </p:nvPr>
        </p:nvSpPr>
        <p:spPr bwMode="auto">
          <a:xfrm flipH="0" flipV="0">
            <a:off x="4430343" y="2145822"/>
            <a:ext cx="4458184" cy="1977141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Subject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  <a:p>
            <a:pPr lvl="1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Experiment </a:t>
            </a:r>
            <a:r>
              <a:rPr lang="en-US" sz="1400" b="0" i="1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[Motor, WM, Emotion, Gambling, Language, Relational]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  <a:p>
            <a:pPr lvl="2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Run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  <a:p>
            <a:pPr lvl="3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Data (X) </a:t>
            </a:r>
            <a:r>
              <a:rPr lang="en-US" sz="1400" b="0" i="1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[3D time-series data]</a:t>
            </a:r>
            <a:endParaRPr sz="1400" b="0" i="1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  <a:p>
            <a:pPr lvl="3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EVs (Y) </a:t>
            </a:r>
            <a:r>
              <a:rPr lang="en-US" sz="1400" b="0" i="1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[Multi-class labels]</a:t>
            </a:r>
            <a:endParaRPr sz="1400" b="0" i="1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  <a:p>
            <a:pPr lvl="3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Metadata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</p:txBody>
      </p:sp>
      <p:grpSp>
        <p:nvGrpSpPr>
          <p:cNvPr id="153849906" name="Google Shape;252;p31"/>
          <p:cNvGrpSpPr/>
          <p:nvPr/>
        </p:nvGrpSpPr>
        <p:grpSpPr bwMode="auto">
          <a:xfrm>
            <a:off x="1531398" y="1087564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3361026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33137117" name=""/>
          <p:cNvSpPr txBox="1"/>
          <p:nvPr/>
        </p:nvSpPr>
        <p:spPr bwMode="auto">
          <a:xfrm rot="0" flipH="0" flipV="0">
            <a:off x="340603" y="1087564"/>
            <a:ext cx="1289222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An Instance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835388565" name=""/>
          <p:cNvSpPr txBox="1"/>
          <p:nvPr/>
        </p:nvSpPr>
        <p:spPr bwMode="auto">
          <a:xfrm rot="0" flipH="0" flipV="0">
            <a:off x="5580321" y="4027714"/>
            <a:ext cx="368825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586001725" name=""/>
          <p:cNvSpPr/>
          <p:nvPr/>
        </p:nvSpPr>
        <p:spPr bwMode="auto">
          <a:xfrm flipH="0" flipV="0">
            <a:off x="4899963" y="4522588"/>
            <a:ext cx="3992523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r">
              <a:defRPr/>
            </a:pPr>
            <a:r>
              <a:rPr lang="en-US" sz="600" b="0" i="0" u="none" strike="noStrike" cap="none" spc="0">
                <a:solidFill>
                  <a:srgbClr val="000000"/>
                </a:solidFill>
                <a:latin typeface="Ubuntu"/>
                <a:ea typeface="Ubuntu"/>
                <a:cs typeface="Ubuntu"/>
              </a:rPr>
              <a:t> D. M. Barch et al., “Function in the human connectome: Task-fMRI and individual differences in behavior,” NeuroImage, vol. 80, pp. 169–189, Oct. 2013, doi: 10.1016/j.neuroimage.2013.05.033.</a:t>
            </a:r>
            <a:endParaRPr sz="600"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658374" name=""/>
          <p:cNvSpPr/>
          <p:nvPr/>
        </p:nvSpPr>
        <p:spPr bwMode="auto">
          <a:xfrm rot="0" flipH="0" flipV="0">
            <a:off x="338326" y="1087563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102057334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340602" y="1347594"/>
            <a:ext cx="4156152" cy="3117114"/>
          </a:xfrm>
          <a:prstGeom prst="rect">
            <a:avLst/>
          </a:prstGeom>
        </p:spPr>
      </p:pic>
      <p:grpSp>
        <p:nvGrpSpPr>
          <p:cNvPr id="1947927706" name="Google Shape;252;p31"/>
          <p:cNvGrpSpPr/>
          <p:nvPr/>
        </p:nvGrpSpPr>
        <p:grpSpPr bwMode="auto">
          <a:xfrm>
            <a:off x="1531397" y="1087563"/>
            <a:ext cx="2971349" cy="265500"/>
            <a:chOff x="511224" y="947025"/>
            <a:chExt cx="2971349" cy="265500"/>
          </a:xfrm>
        </p:grpSpPr>
        <p:pic>
          <p:nvPicPr>
            <p:cNvPr id="2035634708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8327746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528918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1298351345" name=""/>
          <p:cNvSpPr txBox="1"/>
          <p:nvPr/>
        </p:nvSpPr>
        <p:spPr bwMode="auto">
          <a:xfrm rot="0" flipH="0" flipV="0">
            <a:off x="340603" y="1087563"/>
            <a:ext cx="1294981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Left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1310198057" name=""/>
          <p:cNvSpPr/>
          <p:nvPr/>
        </p:nvSpPr>
        <p:spPr bwMode="auto">
          <a:xfrm rot="0" flipH="0" flipV="0">
            <a:off x="4643644" y="1077076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2142865126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4645920" y="1337107"/>
            <a:ext cx="4156152" cy="3117114"/>
          </a:xfrm>
          <a:prstGeom prst="rect">
            <a:avLst/>
          </a:prstGeom>
          <a:ln w="9524">
            <a:solidFill>
              <a:schemeClr val="accent1">
                <a:lumMod val="50196"/>
              </a:schemeClr>
            </a:solidFill>
            <a:prstDash val="solid"/>
          </a:ln>
        </p:spPr>
      </p:pic>
      <p:grpSp>
        <p:nvGrpSpPr>
          <p:cNvPr id="1293840141" name="Google Shape;252;p31"/>
          <p:cNvGrpSpPr/>
          <p:nvPr/>
        </p:nvGrpSpPr>
        <p:grpSpPr bwMode="auto">
          <a:xfrm>
            <a:off x="5836716" y="1077076"/>
            <a:ext cx="2971349" cy="265500"/>
            <a:chOff x="511224" y="947025"/>
            <a:chExt cx="2971349" cy="265500"/>
          </a:xfrm>
        </p:grpSpPr>
        <p:pic>
          <p:nvPicPr>
            <p:cNvPr id="1783980505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807433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1026946" name=""/>
          <p:cNvSpPr txBox="1"/>
          <p:nvPr/>
        </p:nvSpPr>
        <p:spPr bwMode="auto">
          <a:xfrm rot="0" flipH="0" flipV="0">
            <a:off x="4645921" y="1077076"/>
            <a:ext cx="1298580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Right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521880907" name="Google Shape;251;p31"/>
          <p:cNvSpPr txBox="1"/>
          <p:nvPr>
            <p:ph type="body" idx="1"/>
          </p:nvPr>
        </p:nvSpPr>
        <p:spPr bwMode="auto">
          <a:xfrm flipH="0" flipV="0">
            <a:off x="338326" y="691969"/>
            <a:ext cx="4458183" cy="385106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39699" indent="0"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Resolution 1: Parcel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925196" name=""/>
          <p:cNvSpPr/>
          <p:nvPr/>
        </p:nvSpPr>
        <p:spPr bwMode="auto">
          <a:xfrm rot="0" flipH="0" flipV="0">
            <a:off x="338326" y="1087563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1846864231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340602" y="1347594"/>
            <a:ext cx="4156152" cy="3117114"/>
          </a:xfrm>
          <a:prstGeom prst="rect">
            <a:avLst/>
          </a:prstGeom>
        </p:spPr>
      </p:pic>
      <p:grpSp>
        <p:nvGrpSpPr>
          <p:cNvPr id="90843154" name="Google Shape;252;p31"/>
          <p:cNvGrpSpPr/>
          <p:nvPr/>
        </p:nvGrpSpPr>
        <p:grpSpPr bwMode="auto">
          <a:xfrm>
            <a:off x="1531397" y="1087563"/>
            <a:ext cx="2971349" cy="265500"/>
            <a:chOff x="511224" y="947025"/>
            <a:chExt cx="2971349" cy="265500"/>
          </a:xfrm>
        </p:grpSpPr>
        <p:pic>
          <p:nvPicPr>
            <p:cNvPr id="1336397362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71824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1823593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745957351" name=""/>
          <p:cNvSpPr txBox="1"/>
          <p:nvPr/>
        </p:nvSpPr>
        <p:spPr bwMode="auto">
          <a:xfrm rot="0" flipH="0" flipV="0">
            <a:off x="340603" y="1087563"/>
            <a:ext cx="1294980" cy="2441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Left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1914151608" name=""/>
          <p:cNvSpPr/>
          <p:nvPr/>
        </p:nvSpPr>
        <p:spPr bwMode="auto">
          <a:xfrm rot="0" flipH="0" flipV="0">
            <a:off x="4643644" y="1077075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67123933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4645920" y="1337106"/>
            <a:ext cx="4156152" cy="3117114"/>
          </a:xfrm>
          <a:prstGeom prst="rect">
            <a:avLst/>
          </a:prstGeom>
          <a:ln w="9524">
            <a:solidFill>
              <a:schemeClr val="accent1">
                <a:lumMod val="50196"/>
              </a:schemeClr>
            </a:solidFill>
            <a:prstDash val="solid"/>
          </a:ln>
        </p:spPr>
      </p:pic>
      <p:grpSp>
        <p:nvGrpSpPr>
          <p:cNvPr id="1176417423" name="Google Shape;252;p31"/>
          <p:cNvGrpSpPr/>
          <p:nvPr/>
        </p:nvGrpSpPr>
        <p:grpSpPr bwMode="auto">
          <a:xfrm>
            <a:off x="5836716" y="1077075"/>
            <a:ext cx="2971349" cy="265500"/>
            <a:chOff x="511224" y="947025"/>
            <a:chExt cx="2971349" cy="265500"/>
          </a:xfrm>
        </p:grpSpPr>
        <p:pic>
          <p:nvPicPr>
            <p:cNvPr id="1147892928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2644184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5907645" name=""/>
          <p:cNvSpPr txBox="1"/>
          <p:nvPr/>
        </p:nvSpPr>
        <p:spPr bwMode="auto">
          <a:xfrm rot="0" flipH="0" flipV="0">
            <a:off x="4645921" y="1077075"/>
            <a:ext cx="1298579" cy="2441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Right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851323267" name="Google Shape;251;p31"/>
          <p:cNvSpPr txBox="1"/>
          <p:nvPr>
            <p:ph type="body" idx="1"/>
          </p:nvPr>
        </p:nvSpPr>
        <p:spPr bwMode="auto">
          <a:xfrm flipH="0" flipV="0">
            <a:off x="338326" y="691968"/>
            <a:ext cx="4458183" cy="38510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39698" indent="0"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Resolution 2: Network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093703" name=""/>
          <p:cNvSpPr/>
          <p:nvPr/>
        </p:nvSpPr>
        <p:spPr bwMode="auto">
          <a:xfrm rot="0" flipH="0" flipV="0">
            <a:off x="338326" y="1087563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1796549380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340602" y="1347594"/>
            <a:ext cx="4156152" cy="3117114"/>
          </a:xfrm>
          <a:prstGeom prst="rect">
            <a:avLst/>
          </a:prstGeom>
        </p:spPr>
      </p:pic>
      <p:grpSp>
        <p:nvGrpSpPr>
          <p:cNvPr id="1620172471" name="Google Shape;252;p31"/>
          <p:cNvGrpSpPr/>
          <p:nvPr/>
        </p:nvGrpSpPr>
        <p:grpSpPr bwMode="auto">
          <a:xfrm>
            <a:off x="1531397" y="1087563"/>
            <a:ext cx="2971349" cy="265500"/>
            <a:chOff x="511224" y="947025"/>
            <a:chExt cx="2971349" cy="265500"/>
          </a:xfrm>
        </p:grpSpPr>
        <p:pic>
          <p:nvPicPr>
            <p:cNvPr id="1359200237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254985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039776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552535438" name=""/>
          <p:cNvSpPr txBox="1"/>
          <p:nvPr/>
        </p:nvSpPr>
        <p:spPr bwMode="auto">
          <a:xfrm rot="0" flipH="0" flipV="0">
            <a:off x="340603" y="1087563"/>
            <a:ext cx="1294980" cy="2441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Left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2080145368" name=""/>
          <p:cNvSpPr/>
          <p:nvPr/>
        </p:nvSpPr>
        <p:spPr bwMode="auto">
          <a:xfrm rot="0" flipH="0" flipV="0">
            <a:off x="4643644" y="1077075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1331512675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4645920" y="1337106"/>
            <a:ext cx="4156152" cy="3117114"/>
          </a:xfrm>
          <a:prstGeom prst="rect">
            <a:avLst/>
          </a:prstGeom>
          <a:ln w="9524">
            <a:solidFill>
              <a:schemeClr val="accent1">
                <a:lumMod val="50196"/>
              </a:schemeClr>
            </a:solidFill>
            <a:prstDash val="solid"/>
          </a:ln>
        </p:spPr>
      </p:pic>
      <p:grpSp>
        <p:nvGrpSpPr>
          <p:cNvPr id="789318760" name="Google Shape;252;p31"/>
          <p:cNvGrpSpPr/>
          <p:nvPr/>
        </p:nvGrpSpPr>
        <p:grpSpPr bwMode="auto">
          <a:xfrm>
            <a:off x="5836716" y="1077075"/>
            <a:ext cx="2971349" cy="265500"/>
            <a:chOff x="511224" y="947025"/>
            <a:chExt cx="2971349" cy="265500"/>
          </a:xfrm>
        </p:grpSpPr>
        <p:pic>
          <p:nvPicPr>
            <p:cNvPr id="898268347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344242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78974" name=""/>
          <p:cNvSpPr txBox="1"/>
          <p:nvPr/>
        </p:nvSpPr>
        <p:spPr bwMode="auto">
          <a:xfrm rot="0" flipH="0" flipV="0">
            <a:off x="4645921" y="1077075"/>
            <a:ext cx="1298579" cy="2441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Right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27021391" name="Google Shape;251;p31"/>
          <p:cNvSpPr txBox="1"/>
          <p:nvPr>
            <p:ph type="body" idx="1"/>
          </p:nvPr>
        </p:nvSpPr>
        <p:spPr bwMode="auto">
          <a:xfrm flipH="0" flipV="0">
            <a:off x="338326" y="691968"/>
            <a:ext cx="4458183" cy="38510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39698" indent="0"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Resolution 3: Hemisphere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175170" name=""/>
          <p:cNvSpPr/>
          <p:nvPr/>
        </p:nvSpPr>
        <p:spPr bwMode="auto">
          <a:xfrm rot="0" flipH="0" flipV="0">
            <a:off x="338326" y="1087563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1598886340" name=""/>
          <p:cNvPicPr>
            <a:picLocks noChangeAspect="1"/>
          </p:cNvPicPr>
          <p:nvPr>
            <p:ph type="pic" idx="2"/>
          </p:nvPr>
        </p:nvPicPr>
        <p:blipFill>
          <a:blip r:embed="rId3"/>
          <a:stretch/>
        </p:blipFill>
        <p:spPr bwMode="auto">
          <a:xfrm rot="0" flipH="0" flipV="0">
            <a:off x="340602" y="1347594"/>
            <a:ext cx="4156152" cy="3117114"/>
          </a:xfrm>
          <a:prstGeom prst="rect">
            <a:avLst/>
          </a:prstGeom>
        </p:spPr>
      </p:pic>
      <p:grpSp>
        <p:nvGrpSpPr>
          <p:cNvPr id="427029165" name="Google Shape;252;p31"/>
          <p:cNvGrpSpPr/>
          <p:nvPr/>
        </p:nvGrpSpPr>
        <p:grpSpPr bwMode="auto">
          <a:xfrm>
            <a:off x="1531397" y="1087563"/>
            <a:ext cx="2971349" cy="265500"/>
            <a:chOff x="511224" y="947025"/>
            <a:chExt cx="2971349" cy="265500"/>
          </a:xfrm>
        </p:grpSpPr>
        <p:pic>
          <p:nvPicPr>
            <p:cNvPr id="752475455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2277897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6428299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998645354" name=""/>
          <p:cNvSpPr txBox="1"/>
          <p:nvPr/>
        </p:nvSpPr>
        <p:spPr bwMode="auto">
          <a:xfrm rot="0" flipH="0" flipV="0">
            <a:off x="340603" y="1087563"/>
            <a:ext cx="1294980" cy="2441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Left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743857364" name=""/>
          <p:cNvSpPr/>
          <p:nvPr/>
        </p:nvSpPr>
        <p:spPr bwMode="auto">
          <a:xfrm rot="0" flipH="0" flipV="0">
            <a:off x="4643644" y="1077075"/>
            <a:ext cx="415519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pic>
        <p:nvPicPr>
          <p:cNvPr id="1095384230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rot="0" flipH="0" flipV="0">
            <a:off x="4645920" y="1337106"/>
            <a:ext cx="4156152" cy="3117114"/>
          </a:xfrm>
          <a:prstGeom prst="rect">
            <a:avLst/>
          </a:prstGeom>
          <a:ln w="9524">
            <a:solidFill>
              <a:schemeClr val="accent1">
                <a:lumMod val="50196"/>
              </a:schemeClr>
            </a:solidFill>
            <a:prstDash val="solid"/>
          </a:ln>
        </p:spPr>
      </p:pic>
      <p:grpSp>
        <p:nvGrpSpPr>
          <p:cNvPr id="322077096" name="Google Shape;252;p31"/>
          <p:cNvGrpSpPr/>
          <p:nvPr/>
        </p:nvGrpSpPr>
        <p:grpSpPr bwMode="auto">
          <a:xfrm>
            <a:off x="5836716" y="1077075"/>
            <a:ext cx="2971349" cy="265500"/>
            <a:chOff x="511224" y="947025"/>
            <a:chExt cx="2971349" cy="265500"/>
          </a:xfrm>
        </p:grpSpPr>
        <p:pic>
          <p:nvPicPr>
            <p:cNvPr id="2083625670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3364122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4885456" name=""/>
          <p:cNvSpPr txBox="1"/>
          <p:nvPr/>
        </p:nvSpPr>
        <p:spPr bwMode="auto">
          <a:xfrm rot="0" flipH="0" flipV="0">
            <a:off x="4645921" y="1077075"/>
            <a:ext cx="1298579" cy="2441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Right Hemisphere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sp>
        <p:nvSpPr>
          <p:cNvPr id="393630800" name="Google Shape;251;p31"/>
          <p:cNvSpPr txBox="1"/>
          <p:nvPr>
            <p:ph type="body" idx="1"/>
          </p:nvPr>
        </p:nvSpPr>
        <p:spPr bwMode="auto">
          <a:xfrm flipH="0" flipV="0">
            <a:off x="338326" y="691968"/>
            <a:ext cx="4458183" cy="385105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139698" indent="0"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"/>
                <a:ea typeface="Ubuntu"/>
                <a:cs typeface="Ubuntu"/>
              </a:rPr>
              <a:t>Resolution 4: Cerebral Cortex</a:t>
            </a:r>
            <a:endParaRPr sz="1400" b="0" i="0" u="none" strike="noStrike" cap="none" spc="0">
              <a:solidFill>
                <a:schemeClr val="dk1"/>
              </a:solidFill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2151884" name=""/>
          <p:cNvPicPr>
            <a:picLocks noChangeAspect="1"/>
          </p:cNvPicPr>
          <p:nvPr>
            <p:ph type="pic" idx="2"/>
          </p:nvPr>
        </p:nvPicPr>
        <p:blipFill>
          <a:blip r:embed="rId3"/>
          <a:srcRect l="0" t="4681" r="0" b="0"/>
          <a:stretch/>
        </p:blipFill>
        <p:spPr bwMode="auto">
          <a:xfrm rot="0" flipH="0" flipV="0">
            <a:off x="275062" y="620561"/>
            <a:ext cx="2500486" cy="4237188"/>
          </a:xfrm>
          <a:prstGeom prst="rect">
            <a:avLst/>
          </a:prstGeom>
          <a:ln w="12699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678386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pic>
        <p:nvPicPr>
          <p:cNvPr id="1007749520" name=""/>
          <p:cNvPicPr>
            <a:picLocks noChangeAspect="1"/>
          </p:cNvPicPr>
          <p:nvPr/>
        </p:nvPicPr>
        <p:blipFill>
          <a:blip r:embed="rId3"/>
          <a:srcRect l="0" t="67154" r="0" b="0"/>
          <a:stretch/>
        </p:blipFill>
        <p:spPr bwMode="auto">
          <a:xfrm rot="0" flipH="0" flipV="0">
            <a:off x="3022178" y="1251856"/>
            <a:ext cx="5766568" cy="3367244"/>
          </a:xfrm>
          <a:prstGeom prst="rect">
            <a:avLst/>
          </a:prstGeom>
          <a:ln w="9524">
            <a:solidFill>
              <a:schemeClr val="accent1">
                <a:lumMod val="50196"/>
              </a:schemeClr>
            </a:solidFill>
            <a:prstDash val="solid"/>
          </a:ln>
        </p:spPr>
      </p:pic>
      <p:cxnSp>
        <p:nvCxnSpPr>
          <p:cNvPr id="1733995672" name=""/>
          <p:cNvCxnSpPr/>
          <p:nvPr/>
        </p:nvCxnSpPr>
        <p:spPr bwMode="auto">
          <a:xfrm flipH="0" flipV="1">
            <a:off x="2668392" y="3845378"/>
            <a:ext cx="435428" cy="299356"/>
          </a:xfrm>
          <a:prstGeom prst="line">
            <a:avLst/>
          </a:prstGeom>
          <a:ln w="76199" cap="flat" cmpd="sng" algn="ctr">
            <a:solidFill>
              <a:srgbClr val="B9B9B9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6634098" name=""/>
          <p:cNvSpPr/>
          <p:nvPr/>
        </p:nvSpPr>
        <p:spPr bwMode="auto">
          <a:xfrm rot="0" flipH="0" flipV="0">
            <a:off x="3022178" y="986681"/>
            <a:ext cx="5770395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grpSp>
        <p:nvGrpSpPr>
          <p:cNvPr id="329697957" name="Google Shape;252;p31"/>
          <p:cNvGrpSpPr/>
          <p:nvPr/>
        </p:nvGrpSpPr>
        <p:grpSpPr bwMode="auto">
          <a:xfrm>
            <a:off x="5830451" y="986681"/>
            <a:ext cx="2971349" cy="265500"/>
            <a:chOff x="511224" y="947025"/>
            <a:chExt cx="2971349" cy="265500"/>
          </a:xfrm>
        </p:grpSpPr>
        <p:pic>
          <p:nvPicPr>
            <p:cNvPr id="258885140" name="Google Shape;253;p31" title="Sin título-2.png"/>
            <p:cNvPicPr/>
            <p:nvPr/>
          </p:nvPicPr>
          <p:blipFill>
            <a:blip r:embed="rId5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1612591" name="Google Shape;254;p31" title="Sin título-2.png"/>
            <p:cNvPicPr/>
            <p:nvPr/>
          </p:nvPicPr>
          <p:blipFill>
            <a:blip r:embed="rId5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4908789" name=""/>
          <p:cNvSpPr txBox="1"/>
          <p:nvPr/>
        </p:nvSpPr>
        <p:spPr bwMode="auto">
          <a:xfrm rot="0" flipH="0" flipV="0">
            <a:off x="3022178" y="997169"/>
            <a:ext cx="1963352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cs typeface="Ubuntu"/>
              </a:rPr>
              <a:t>Model-wise Comparison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06537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345659055" name=""/>
          <p:cNvSpPr/>
          <p:nvPr/>
        </p:nvSpPr>
        <p:spPr bwMode="auto">
          <a:xfrm rot="0" flipH="0" flipV="0">
            <a:off x="3963430" y="850610"/>
            <a:ext cx="4829142" cy="265174"/>
          </a:xfrm>
          <a:prstGeom prst="rect">
            <a:avLst/>
          </a:prstGeom>
          <a:solidFill>
            <a:srgbClr val="7A7A78"/>
          </a:solidFill>
          <a:ln w="634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Ubuntu"/>
              <a:cs typeface="Ubuntu"/>
            </a:endParaRPr>
          </a:p>
        </p:txBody>
      </p:sp>
      <p:grpSp>
        <p:nvGrpSpPr>
          <p:cNvPr id="391603720" name="Google Shape;252;p31"/>
          <p:cNvGrpSpPr/>
          <p:nvPr/>
        </p:nvGrpSpPr>
        <p:grpSpPr bwMode="auto">
          <a:xfrm>
            <a:off x="5830450" y="850610"/>
            <a:ext cx="2971349" cy="265500"/>
            <a:chOff x="511224" y="947025"/>
            <a:chExt cx="2971349" cy="265500"/>
          </a:xfrm>
        </p:grpSpPr>
        <p:pic>
          <p:nvPicPr>
            <p:cNvPr id="1829335520" name="Google Shape;253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2775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06406" name="Google Shape;254;p31" title="Sin título-2.png"/>
            <p:cNvPicPr/>
            <p:nvPr/>
          </p:nvPicPr>
          <p:blipFill>
            <a:blip r:embed="rId4">
              <a:alphaModFix/>
            </a:blip>
            <a:srcRect l="60127" t="0" r="0" b="0"/>
            <a:stretch/>
          </p:blipFill>
          <p:spPr bwMode="auto">
            <a:xfrm>
              <a:off x="511224" y="947025"/>
              <a:ext cx="2969799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7067791" name=""/>
          <p:cNvSpPr txBox="1"/>
          <p:nvPr/>
        </p:nvSpPr>
        <p:spPr bwMode="auto">
          <a:xfrm rot="0" flipH="0" flipV="0">
            <a:off x="3963430" y="861098"/>
            <a:ext cx="1971992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Task-wise Comparison</a:t>
            </a:r>
            <a:endParaRPr sz="1000">
              <a:solidFill>
                <a:schemeClr val="bg1"/>
              </a:solidFill>
              <a:latin typeface="Ubuntu"/>
              <a:cs typeface="Ubuntu"/>
            </a:endParaRPr>
          </a:p>
        </p:txBody>
      </p:sp>
      <p:pic>
        <p:nvPicPr>
          <p:cNvPr id="33173216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963430" y="1115785"/>
            <a:ext cx="4829142" cy="3621857"/>
          </a:xfrm>
          <a:prstGeom prst="rect">
            <a:avLst/>
          </a:prstGeom>
          <a:ln w="9524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462617585" name=""/>
          <p:cNvSpPr txBox="1"/>
          <p:nvPr/>
        </p:nvSpPr>
        <p:spPr bwMode="auto">
          <a:xfrm rot="0" flipH="0" flipV="0">
            <a:off x="340603" y="983197"/>
            <a:ext cx="3680017" cy="3292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>
                <a:latin typeface="Ubuntu"/>
                <a:ea typeface="Ubuntu"/>
                <a:cs typeface="Ubuntu"/>
              </a:rPr>
              <a:t>Outcomes:</a:t>
            </a:r>
            <a:endParaRPr b="0">
              <a:latin typeface="Ubuntu"/>
              <a:ea typeface="Ubuntu"/>
              <a:cs typeface="Ubuntu"/>
            </a:endParaRPr>
          </a:p>
          <a:p>
            <a:pPr algn="l"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r>
              <a:rPr b="0">
                <a:latin typeface="Ubuntu"/>
                <a:ea typeface="Ubuntu"/>
                <a:cs typeface="Ubuntu"/>
              </a:rPr>
              <a:t>Non-linear relationship</a:t>
            </a: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r>
              <a:rPr b="0">
                <a:latin typeface="Ubuntu"/>
                <a:ea typeface="Ubuntu"/>
                <a:cs typeface="Ubuntu"/>
              </a:rPr>
              <a:t>Model-wise variability</a:t>
            </a: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r>
              <a:rPr b="0">
                <a:latin typeface="Ubuntu"/>
                <a:ea typeface="Ubuntu"/>
                <a:cs typeface="Ubuntu"/>
              </a:rPr>
              <a:t>Task-wise variability</a:t>
            </a: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algn="l"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algn="l">
              <a:defRPr/>
            </a:pPr>
            <a:r>
              <a:rPr b="0">
                <a:latin typeface="Ubuntu"/>
                <a:ea typeface="Ubuntu"/>
                <a:cs typeface="Ubuntu"/>
              </a:rPr>
              <a:t>Future works:</a:t>
            </a:r>
            <a:endParaRPr b="0">
              <a:latin typeface="Ubuntu"/>
              <a:ea typeface="Ubuntu"/>
              <a:cs typeface="Ubuntu"/>
            </a:endParaRPr>
          </a:p>
          <a:p>
            <a:pPr algn="l"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r>
              <a:rPr b="0">
                <a:latin typeface="Ubuntu"/>
                <a:ea typeface="Ubuntu"/>
                <a:cs typeface="Ubuntu"/>
              </a:rPr>
              <a:t>Quantification</a:t>
            </a:r>
            <a:r>
              <a:rPr b="0">
                <a:latin typeface="Ubuntu"/>
                <a:ea typeface="Ubuntu"/>
                <a:cs typeface="Ubuntu"/>
              </a:rPr>
              <a:t> of the correlation</a:t>
            </a: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r>
              <a:rPr b="0">
                <a:latin typeface="Ubuntu"/>
                <a:ea typeface="Ubuntu"/>
                <a:cs typeface="Ubuntu"/>
              </a:rPr>
              <a:t>More fine-grained scales</a:t>
            </a:r>
            <a:endParaRPr b="0">
              <a:latin typeface="Ubuntu"/>
              <a:ea typeface="Ubuntu"/>
              <a:cs typeface="Ubuntu"/>
            </a:endParaRPr>
          </a:p>
          <a:p>
            <a:pPr marL="239821" indent="-239821" algn="l">
              <a:buFont typeface="Arial"/>
              <a:buChar char="•"/>
              <a:defRPr/>
            </a:pPr>
            <a:endParaRPr b="0">
              <a:latin typeface="Ubuntu"/>
              <a:ea typeface="Ubuntu"/>
              <a:cs typeface="Ubuntu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34153" name="Google Shape;67;p10"/>
          <p:cNvSpPr/>
          <p:nvPr>
            <p:ph type="pic" idx="2"/>
          </p:nvPr>
        </p:nvSpPr>
        <p:spPr bwMode="auto">
          <a:xfrm>
            <a:off x="191449" y="686274"/>
            <a:ext cx="8758199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5613992" name="Google Shape;314;p37"/>
          <p:cNvSpPr txBox="1"/>
          <p:nvPr>
            <p:ph type="title"/>
          </p:nvPr>
        </p:nvSpPr>
        <p:spPr bwMode="auto">
          <a:xfrm flipH="0" flipV="0">
            <a:off x="1713049" y="3588817"/>
            <a:ext cx="5715000" cy="94236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Code available at</a:t>
            </a:r>
            <a:br>
              <a:rPr lang="en-US"/>
            </a:br>
            <a:r>
              <a:rPr lang="en-US" sz="1500" b="0" i="0" u="sng" strike="noStrike" cap="none" spc="0">
                <a:solidFill>
                  <a:schemeClr val="dk1"/>
                </a:solidFill>
                <a:latin typeface="VT323"/>
                <a:ea typeface="VT323"/>
                <a:cs typeface="VT323"/>
                <a:hlinkClick r:id="rId3" tooltip=""/>
              </a:rPr>
              <a:t>https://github.com/trumpeter122/NMA2025-fMRI-Spatial-Resolution-and-Neural-Decoding.git</a:t>
            </a:r>
            <a:endParaRPr/>
          </a:p>
        </p:txBody>
      </p:sp>
      <p:pic>
        <p:nvPicPr>
          <p:cNvPr id="18877908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0603" y="214384"/>
            <a:ext cx="422787" cy="286520"/>
          </a:xfrm>
          <a:prstGeom prst="rect">
            <a:avLst/>
          </a:prstGeom>
        </p:spPr>
      </p:pic>
      <p:sp>
        <p:nvSpPr>
          <p:cNvPr id="929525669" name=""/>
          <p:cNvSpPr txBox="1"/>
          <p:nvPr/>
        </p:nvSpPr>
        <p:spPr bwMode="auto">
          <a:xfrm rot="0" flipH="0" flipV="0">
            <a:off x="1822968" y="1867079"/>
            <a:ext cx="5496602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6000">
                <a:latin typeface="Linux Libertine Mono O"/>
                <a:ea typeface="Linux Libertine Mono O"/>
                <a:cs typeface="Linux Libertine Mono O"/>
              </a:rPr>
              <a:t>Thank </a:t>
            </a:r>
            <a:r>
              <a:rPr sz="6000">
                <a:latin typeface="Linux Libertine Mono O"/>
                <a:ea typeface="Linux Libertine Mono O"/>
                <a:cs typeface="Linux Libertine Mono O"/>
              </a:rPr>
              <a:t>You</a:t>
            </a:r>
            <a:endParaRPr sz="6000">
              <a:latin typeface="Linux Libertine Mono O"/>
              <a:cs typeface="Linux Libertine Mono 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2025-08-23T01:22:07Z</dcterms:modified>
</cp:coreProperties>
</file>